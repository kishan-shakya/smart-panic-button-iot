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4" r:id="rId6"/>
    <p:sldId id="261" r:id="rId7"/>
    <p:sldId id="262" r:id="rId8"/>
  </p:sldIdLst>
  <p:sldSz cx="14630400" cy="8229600"/>
  <p:notesSz cx="8229600" cy="14630400"/>
  <p:embeddedFontLst>
    <p:embeddedFont>
      <p:font typeface="Instrument Sans Medium" panose="020B0604020202020204" charset="0"/>
      <p:regular r:id="rId10"/>
    </p:embeddedFont>
    <p:embeddedFont>
      <p:font typeface="Instrument Sans Semi Bold"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44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0909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613416" y="1416504"/>
            <a:ext cx="11051024" cy="429542"/>
          </a:xfrm>
          <a:prstGeom prst="rect">
            <a:avLst/>
          </a:prstGeom>
          <a:noFill/>
          <a:ln/>
        </p:spPr>
        <p:txBody>
          <a:bodyPr wrap="none" lIns="0" tIns="0" rIns="0" bIns="0" rtlCol="0" anchor="t"/>
          <a:lstStyle/>
          <a:p>
            <a:pPr marL="0" indent="0" algn="l">
              <a:lnSpc>
                <a:spcPts val="4050"/>
              </a:lnSpc>
              <a:buNone/>
            </a:pPr>
            <a:r>
              <a:rPr lang="en-US" sz="3250" dirty="0">
                <a:solidFill>
                  <a:srgbClr val="505468"/>
                </a:solidFill>
                <a:latin typeface="Instrument Sans Semi Bold" pitchFamily="34" charset="0"/>
                <a:ea typeface="Instrument Sans Semi Bold" pitchFamily="34" charset="-122"/>
                <a:cs typeface="Instrument Sans Semi Bold" pitchFamily="34" charset="-120"/>
              </a:rPr>
              <a:t>Smart Panic SOS Button with Live Location &amp; Voice Feed</a:t>
            </a:r>
            <a:endParaRPr lang="en-US" sz="3250" dirty="0"/>
          </a:p>
        </p:txBody>
      </p:sp>
      <p:sp>
        <p:nvSpPr>
          <p:cNvPr id="3" name="Text 1"/>
          <p:cNvSpPr/>
          <p:nvPr/>
        </p:nvSpPr>
        <p:spPr>
          <a:xfrm>
            <a:off x="1228902" y="2273279"/>
            <a:ext cx="11403449" cy="228481"/>
          </a:xfrm>
          <a:prstGeom prst="rect">
            <a:avLst/>
          </a:prstGeom>
          <a:noFill/>
          <a:ln/>
        </p:spPr>
        <p:txBody>
          <a:bodyPr wrap="none" lIns="0" tIns="0" rIns="0" bIns="0" rtlCol="0" anchor="t"/>
          <a:lstStyle/>
          <a:p>
            <a:pPr marL="0" indent="0" algn="l">
              <a:lnSpc>
                <a:spcPts val="1750"/>
              </a:lnSpc>
              <a:buNone/>
            </a:pPr>
            <a:r>
              <a:rPr lang="en-US" sz="1300" dirty="0">
                <a:solidFill>
                  <a:srgbClr val="5B5F71"/>
                </a:solidFill>
                <a:latin typeface="Instrument Sans Medium" pitchFamily="34" charset="0"/>
                <a:ea typeface="Instrument Sans Medium" pitchFamily="34" charset="-122"/>
                <a:cs typeface="Instrument Sans Medium" pitchFamily="34" charset="-120"/>
              </a:rPr>
              <a:t>An IoT-based Emergency Safety System</a:t>
            </a:r>
            <a:endParaRPr lang="en-US" sz="13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6743" y="5831800"/>
            <a:ext cx="132159" cy="132159"/>
          </a:xfrm>
          <a:prstGeom prst="rect">
            <a:avLst/>
          </a:prstGeom>
        </p:spPr>
      </p:pic>
      <p:pic>
        <p:nvPicPr>
          <p:cNvPr id="18" name="Image 4" descr="preencoded.png"/>
          <p:cNvPicPr>
            <a:picLocks noChangeAspect="1"/>
          </p:cNvPicPr>
          <p:nvPr/>
        </p:nvPicPr>
        <p:blipFill>
          <a:blip r:embed="rId4"/>
          <a:stretch>
            <a:fillRect/>
          </a:stretch>
        </p:blipFill>
        <p:spPr>
          <a:xfrm>
            <a:off x="1228902" y="2557261"/>
            <a:ext cx="5808464" cy="5502312"/>
          </a:xfrm>
          <a:prstGeom prst="rect">
            <a:avLst/>
          </a:prstGeom>
        </p:spPr>
      </p:pic>
      <p:pic>
        <p:nvPicPr>
          <p:cNvPr id="19" name="Image 5" descr="preencoded.png"/>
          <p:cNvPicPr>
            <a:picLocks noChangeAspect="1"/>
          </p:cNvPicPr>
          <p:nvPr/>
        </p:nvPicPr>
        <p:blipFill>
          <a:blip r:embed="rId5"/>
          <a:stretch>
            <a:fillRect/>
          </a:stretch>
        </p:blipFill>
        <p:spPr>
          <a:xfrm>
            <a:off x="7979095" y="2501760"/>
            <a:ext cx="6514146" cy="5613314"/>
          </a:xfrm>
          <a:prstGeom prst="rect">
            <a:avLst/>
          </a:prstGeom>
        </p:spPr>
      </p:pic>
      <p:sp>
        <p:nvSpPr>
          <p:cNvPr id="20" name="TextBox 19">
            <a:extLst>
              <a:ext uri="{FF2B5EF4-FFF2-40B4-BE49-F238E27FC236}">
                <a16:creationId xmlns:a16="http://schemas.microsoft.com/office/drawing/2014/main" id="{5B2346F3-15BD-8E05-9BF9-1E1388585973}"/>
              </a:ext>
            </a:extLst>
          </p:cNvPr>
          <p:cNvSpPr txBox="1"/>
          <p:nvPr/>
        </p:nvSpPr>
        <p:spPr>
          <a:xfrm>
            <a:off x="4526280" y="437673"/>
            <a:ext cx="5623560" cy="923330"/>
          </a:xfrm>
          <a:prstGeom prst="rect">
            <a:avLst/>
          </a:prstGeom>
          <a:noFill/>
        </p:spPr>
        <p:txBody>
          <a:bodyPr wrap="square" rtlCol="0">
            <a:spAutoFit/>
          </a:bodyPr>
          <a:lstStyle/>
          <a:p>
            <a:r>
              <a:rPr lang="en-IN" sz="5400" u="sng" dirty="0"/>
              <a:t>Problem</a:t>
            </a:r>
            <a:r>
              <a:rPr lang="en-IN" sz="5400" dirty="0"/>
              <a:t> </a:t>
            </a:r>
            <a:r>
              <a:rPr lang="en-IN" sz="5400" u="sng" dirty="0"/>
              <a:t>Statement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405420" y="653415"/>
            <a:ext cx="9819442" cy="520660"/>
          </a:xfrm>
          <a:prstGeom prst="rect">
            <a:avLst/>
          </a:prstGeom>
          <a:noFill/>
          <a:ln/>
        </p:spPr>
        <p:txBody>
          <a:bodyPr wrap="none" lIns="0" tIns="0" rIns="0" bIns="0" rtlCol="0" anchor="t"/>
          <a:lstStyle/>
          <a:p>
            <a:pPr marL="0" indent="0" algn="ctr">
              <a:lnSpc>
                <a:spcPts val="4100"/>
              </a:lnSpc>
              <a:buNone/>
            </a:pPr>
            <a:r>
              <a:rPr lang="en-US" sz="3250" dirty="0">
                <a:solidFill>
                  <a:srgbClr val="505468"/>
                </a:solidFill>
                <a:latin typeface="Instrument Sans Semi Bold" pitchFamily="34" charset="0"/>
                <a:ea typeface="Instrument Sans Semi Bold" pitchFamily="34" charset="-122"/>
                <a:cs typeface="Instrument Sans Semi Bold" pitchFamily="34" charset="-120"/>
              </a:rPr>
              <a:t>The Critical Need for Instant Emergency Response</a:t>
            </a:r>
            <a:endParaRPr lang="en-US" sz="3250" dirty="0"/>
          </a:p>
        </p:txBody>
      </p:sp>
      <p:pic>
        <p:nvPicPr>
          <p:cNvPr id="3" name="Image 0" descr="preencoded.png"/>
          <p:cNvPicPr>
            <a:picLocks noChangeAspect="1"/>
          </p:cNvPicPr>
          <p:nvPr/>
        </p:nvPicPr>
        <p:blipFill>
          <a:blip r:embed="rId3"/>
          <a:stretch>
            <a:fillRect/>
          </a:stretch>
        </p:blipFill>
        <p:spPr>
          <a:xfrm>
            <a:off x="1565791" y="1495306"/>
            <a:ext cx="7331869" cy="4399121"/>
          </a:xfrm>
          <a:prstGeom prst="rect">
            <a:avLst/>
          </a:prstGeom>
        </p:spPr>
      </p:pic>
      <p:sp>
        <p:nvSpPr>
          <p:cNvPr id="4" name="Shape 1"/>
          <p:cNvSpPr/>
          <p:nvPr/>
        </p:nvSpPr>
        <p:spPr>
          <a:xfrm>
            <a:off x="9064228" y="1357669"/>
            <a:ext cx="4000262" cy="4674394"/>
          </a:xfrm>
          <a:prstGeom prst="roundRect">
            <a:avLst>
              <a:gd name="adj" fmla="val 2999"/>
            </a:avLst>
          </a:prstGeom>
          <a:solidFill>
            <a:srgbClr val="E0F7FA">
              <a:alpha val="95000"/>
            </a:srgbClr>
          </a:solidFill>
          <a:ln/>
        </p:spPr>
        <p:txBody>
          <a:bodyPr/>
          <a:lstStyle/>
          <a:p>
            <a:endParaRPr lang="en-IN"/>
          </a:p>
        </p:txBody>
      </p:sp>
      <p:sp>
        <p:nvSpPr>
          <p:cNvPr id="5" name="Text 2"/>
          <p:cNvSpPr/>
          <p:nvPr/>
        </p:nvSpPr>
        <p:spPr>
          <a:xfrm>
            <a:off x="9190791" y="1694735"/>
            <a:ext cx="3667125" cy="1156097"/>
          </a:xfrm>
          <a:prstGeom prst="rect">
            <a:avLst/>
          </a:prstGeom>
          <a:noFill/>
          <a:ln/>
        </p:spPr>
        <p:txBody>
          <a:bodyPr wrap="square" lIns="0" tIns="0" rIns="0" bIns="0" rtlCol="0" anchor="t"/>
          <a:lstStyle/>
          <a:p>
            <a:pPr marL="0" indent="0" algn="l">
              <a:lnSpc>
                <a:spcPts val="1800"/>
              </a:lnSpc>
              <a:buNone/>
            </a:pPr>
            <a:r>
              <a:rPr lang="en-US" sz="1300" dirty="0">
                <a:solidFill>
                  <a:srgbClr val="000000"/>
                </a:solidFill>
                <a:latin typeface="Instrument Sans Medium" pitchFamily="34" charset="0"/>
                <a:ea typeface="Instrument Sans Medium" pitchFamily="34" charset="-122"/>
                <a:cs typeface="Instrument Sans Medium" pitchFamily="34" charset="-120"/>
              </a:rPr>
              <a:t>In critical moments, every second counts. Traditional emergency responses face significant challenges that delay help when it's needed most, highlighting the urgent need for smarter solutions.</a:t>
            </a:r>
            <a:endParaRPr lang="en-US" sz="1300" dirty="0"/>
          </a:p>
        </p:txBody>
      </p:sp>
      <p:sp>
        <p:nvSpPr>
          <p:cNvPr id="6" name="Shape 3"/>
          <p:cNvSpPr/>
          <p:nvPr/>
        </p:nvSpPr>
        <p:spPr>
          <a:xfrm>
            <a:off x="1522012" y="6169700"/>
            <a:ext cx="3817940" cy="1614732"/>
          </a:xfrm>
          <a:prstGeom prst="roundRect">
            <a:avLst>
              <a:gd name="adj" fmla="val 7802"/>
            </a:avLst>
          </a:prstGeom>
          <a:solidFill>
            <a:srgbClr val="FFFFFF">
              <a:alpha val="95000"/>
            </a:srgbClr>
          </a:solidFill>
          <a:ln w="22860">
            <a:solidFill>
              <a:srgbClr val="FFB74D"/>
            </a:solidFill>
            <a:prstDash val="solid"/>
          </a:ln>
        </p:spPr>
        <p:txBody>
          <a:bodyPr/>
          <a:lstStyle/>
          <a:p>
            <a:endParaRPr lang="en-IN"/>
          </a:p>
        </p:txBody>
      </p:sp>
      <p:sp>
        <p:nvSpPr>
          <p:cNvPr id="7" name="Shape 4"/>
          <p:cNvSpPr/>
          <p:nvPr/>
        </p:nvSpPr>
        <p:spPr>
          <a:xfrm>
            <a:off x="1542931" y="6169700"/>
            <a:ext cx="91440" cy="1406366"/>
          </a:xfrm>
          <a:prstGeom prst="roundRect">
            <a:avLst>
              <a:gd name="adj" fmla="val 76545"/>
            </a:avLst>
          </a:prstGeom>
          <a:solidFill>
            <a:srgbClr val="FFB74D"/>
          </a:solidFill>
          <a:ln/>
        </p:spPr>
        <p:txBody>
          <a:bodyPr/>
          <a:lstStyle/>
          <a:p>
            <a:endParaRPr lang="en-IN"/>
          </a:p>
        </p:txBody>
      </p:sp>
      <p:sp>
        <p:nvSpPr>
          <p:cNvPr id="8" name="Text 5"/>
          <p:cNvSpPr/>
          <p:nvPr/>
        </p:nvSpPr>
        <p:spPr>
          <a:xfrm>
            <a:off x="1823799" y="6359128"/>
            <a:ext cx="2714030" cy="260390"/>
          </a:xfrm>
          <a:prstGeom prst="rect">
            <a:avLst/>
          </a:prstGeom>
          <a:noFill/>
          <a:ln/>
        </p:spPr>
        <p:txBody>
          <a:bodyPr wrap="none" lIns="0" tIns="0" rIns="0" bIns="0" rtlCol="0" anchor="t"/>
          <a:lstStyle/>
          <a:p>
            <a:pPr marL="0" indent="0" algn="l">
              <a:lnSpc>
                <a:spcPts val="2050"/>
              </a:lnSpc>
              <a:buNone/>
            </a:pPr>
            <a:r>
              <a:rPr lang="en-US" sz="1600" dirty="0">
                <a:solidFill>
                  <a:srgbClr val="5B5F71"/>
                </a:solidFill>
                <a:latin typeface="Instrument Sans Semi Bold" pitchFamily="34" charset="0"/>
                <a:ea typeface="Instrument Sans Semi Bold" pitchFamily="34" charset="-122"/>
                <a:cs typeface="Instrument Sans Semi Bold" pitchFamily="34" charset="-120"/>
              </a:rPr>
              <a:t>Rising Emergency Incidents</a:t>
            </a:r>
            <a:endParaRPr lang="en-US" sz="1600" dirty="0"/>
          </a:p>
        </p:txBody>
      </p:sp>
      <p:sp>
        <p:nvSpPr>
          <p:cNvPr id="9" name="Text 6"/>
          <p:cNvSpPr/>
          <p:nvPr/>
        </p:nvSpPr>
        <p:spPr>
          <a:xfrm>
            <a:off x="1823799" y="6692979"/>
            <a:ext cx="3303865" cy="693658"/>
          </a:xfrm>
          <a:prstGeom prst="rect">
            <a:avLst/>
          </a:prstGeom>
          <a:noFill/>
          <a:ln/>
        </p:spPr>
        <p:txBody>
          <a:bodyPr wrap="square" lIns="0" tIns="0" rIns="0" bIns="0" rtlCol="0" anchor="t"/>
          <a:lstStyle/>
          <a:p>
            <a:pPr marL="0" indent="0" algn="l">
              <a:lnSpc>
                <a:spcPts val="1800"/>
              </a:lnSpc>
              <a:buNone/>
            </a:pPr>
            <a:r>
              <a:rPr lang="en-US" sz="1300" dirty="0">
                <a:solidFill>
                  <a:srgbClr val="5B5F71"/>
                </a:solidFill>
                <a:latin typeface="Instrument Sans Medium" pitchFamily="34" charset="0"/>
                <a:ea typeface="Instrument Sans Medium" pitchFamily="34" charset="-122"/>
                <a:cs typeface="Instrument Sans Medium" pitchFamily="34" charset="-120"/>
              </a:rPr>
              <a:t>Growing need for instant, reliable emergency response systems in urban and remote areas</a:t>
            </a:r>
            <a:endParaRPr lang="en-US" sz="1300" dirty="0"/>
          </a:p>
        </p:txBody>
      </p:sp>
      <p:sp>
        <p:nvSpPr>
          <p:cNvPr id="10" name="Shape 7"/>
          <p:cNvSpPr/>
          <p:nvPr/>
        </p:nvSpPr>
        <p:spPr>
          <a:xfrm>
            <a:off x="5439489" y="6169699"/>
            <a:ext cx="3751302" cy="1614733"/>
          </a:xfrm>
          <a:prstGeom prst="roundRect">
            <a:avLst>
              <a:gd name="adj" fmla="val 7802"/>
            </a:avLst>
          </a:prstGeom>
          <a:solidFill>
            <a:srgbClr val="FFFFFF">
              <a:alpha val="95000"/>
            </a:srgbClr>
          </a:solidFill>
          <a:ln w="22860">
            <a:solidFill>
              <a:srgbClr val="FFB74D"/>
            </a:solidFill>
            <a:prstDash val="solid"/>
          </a:ln>
        </p:spPr>
        <p:txBody>
          <a:bodyPr/>
          <a:lstStyle/>
          <a:p>
            <a:endParaRPr lang="en-IN"/>
          </a:p>
        </p:txBody>
      </p:sp>
      <p:sp>
        <p:nvSpPr>
          <p:cNvPr id="11" name="Shape 8"/>
          <p:cNvSpPr/>
          <p:nvPr/>
        </p:nvSpPr>
        <p:spPr>
          <a:xfrm>
            <a:off x="5416629" y="6169700"/>
            <a:ext cx="91440" cy="1406366"/>
          </a:xfrm>
          <a:prstGeom prst="roundRect">
            <a:avLst>
              <a:gd name="adj" fmla="val 76545"/>
            </a:avLst>
          </a:prstGeom>
          <a:solidFill>
            <a:srgbClr val="FFB74D"/>
          </a:solidFill>
          <a:ln/>
        </p:spPr>
        <p:txBody>
          <a:bodyPr/>
          <a:lstStyle/>
          <a:p>
            <a:endParaRPr lang="en-IN"/>
          </a:p>
        </p:txBody>
      </p:sp>
      <p:sp>
        <p:nvSpPr>
          <p:cNvPr id="12" name="Text 9"/>
          <p:cNvSpPr/>
          <p:nvPr/>
        </p:nvSpPr>
        <p:spPr>
          <a:xfrm>
            <a:off x="5697498" y="6359128"/>
            <a:ext cx="2280047" cy="260390"/>
          </a:xfrm>
          <a:prstGeom prst="rect">
            <a:avLst/>
          </a:prstGeom>
          <a:noFill/>
          <a:ln/>
        </p:spPr>
        <p:txBody>
          <a:bodyPr wrap="none" lIns="0" tIns="0" rIns="0" bIns="0" rtlCol="0" anchor="t"/>
          <a:lstStyle/>
          <a:p>
            <a:pPr marL="0" indent="0" algn="l">
              <a:lnSpc>
                <a:spcPts val="2050"/>
              </a:lnSpc>
              <a:buNone/>
            </a:pPr>
            <a:r>
              <a:rPr lang="en-US" sz="1600" dirty="0">
                <a:solidFill>
                  <a:srgbClr val="5B5F71"/>
                </a:solidFill>
                <a:latin typeface="Instrument Sans Semi Bold" pitchFamily="34" charset="0"/>
                <a:ea typeface="Instrument Sans Semi Bold" pitchFamily="34" charset="-122"/>
                <a:cs typeface="Instrument Sans Semi Bold" pitchFamily="34" charset="-120"/>
              </a:rPr>
              <a:t>Communication Delays</a:t>
            </a:r>
            <a:endParaRPr lang="en-US" sz="1600" dirty="0"/>
          </a:p>
        </p:txBody>
      </p:sp>
      <p:sp>
        <p:nvSpPr>
          <p:cNvPr id="13" name="Text 10"/>
          <p:cNvSpPr/>
          <p:nvPr/>
        </p:nvSpPr>
        <p:spPr>
          <a:xfrm>
            <a:off x="5697498" y="6692979"/>
            <a:ext cx="3303865" cy="693658"/>
          </a:xfrm>
          <a:prstGeom prst="rect">
            <a:avLst/>
          </a:prstGeom>
          <a:noFill/>
          <a:ln/>
        </p:spPr>
        <p:txBody>
          <a:bodyPr wrap="square" lIns="0" tIns="0" rIns="0" bIns="0" rtlCol="0" anchor="t"/>
          <a:lstStyle/>
          <a:p>
            <a:pPr marL="0" indent="0" algn="l">
              <a:lnSpc>
                <a:spcPts val="1800"/>
              </a:lnSpc>
              <a:buNone/>
            </a:pPr>
            <a:r>
              <a:rPr lang="en-US" sz="1300" dirty="0">
                <a:solidFill>
                  <a:srgbClr val="5B5F71"/>
                </a:solidFill>
                <a:latin typeface="Instrument Sans Medium" pitchFamily="34" charset="0"/>
                <a:ea typeface="Instrument Sans Medium" pitchFamily="34" charset="-122"/>
                <a:cs typeface="Instrument Sans Medium" pitchFamily="34" charset="-120"/>
              </a:rPr>
              <a:t>Manual calling or messaging takes precious time during panic situations when coordination is impaired</a:t>
            </a:r>
            <a:endParaRPr lang="en-US" sz="1300" dirty="0"/>
          </a:p>
        </p:txBody>
      </p:sp>
      <p:sp>
        <p:nvSpPr>
          <p:cNvPr id="14" name="Shape 11"/>
          <p:cNvSpPr/>
          <p:nvPr/>
        </p:nvSpPr>
        <p:spPr>
          <a:xfrm>
            <a:off x="9313188" y="6169700"/>
            <a:ext cx="3682722" cy="1614732"/>
          </a:xfrm>
          <a:prstGeom prst="roundRect">
            <a:avLst>
              <a:gd name="adj" fmla="val 7802"/>
            </a:avLst>
          </a:prstGeom>
          <a:solidFill>
            <a:srgbClr val="FFFFFF">
              <a:alpha val="95000"/>
            </a:srgbClr>
          </a:solidFill>
          <a:ln w="22860">
            <a:solidFill>
              <a:srgbClr val="FFB74D"/>
            </a:solidFill>
            <a:prstDash val="solid"/>
          </a:ln>
        </p:spPr>
        <p:txBody>
          <a:bodyPr/>
          <a:lstStyle/>
          <a:p>
            <a:endParaRPr lang="en-IN"/>
          </a:p>
        </p:txBody>
      </p:sp>
      <p:sp>
        <p:nvSpPr>
          <p:cNvPr id="15" name="Shape 12"/>
          <p:cNvSpPr/>
          <p:nvPr/>
        </p:nvSpPr>
        <p:spPr>
          <a:xfrm>
            <a:off x="9290328" y="6169700"/>
            <a:ext cx="91440" cy="1406366"/>
          </a:xfrm>
          <a:prstGeom prst="roundRect">
            <a:avLst>
              <a:gd name="adj" fmla="val 76545"/>
            </a:avLst>
          </a:prstGeom>
          <a:solidFill>
            <a:srgbClr val="FFB74D"/>
          </a:solidFill>
          <a:ln/>
        </p:spPr>
        <p:txBody>
          <a:bodyPr/>
          <a:lstStyle/>
          <a:p>
            <a:endParaRPr lang="en-IN"/>
          </a:p>
        </p:txBody>
      </p:sp>
      <p:sp>
        <p:nvSpPr>
          <p:cNvPr id="16" name="Text 13"/>
          <p:cNvSpPr/>
          <p:nvPr/>
        </p:nvSpPr>
        <p:spPr>
          <a:xfrm>
            <a:off x="9571196" y="6359128"/>
            <a:ext cx="2082998" cy="260390"/>
          </a:xfrm>
          <a:prstGeom prst="rect">
            <a:avLst/>
          </a:prstGeom>
          <a:noFill/>
          <a:ln/>
        </p:spPr>
        <p:txBody>
          <a:bodyPr wrap="none" lIns="0" tIns="0" rIns="0" bIns="0" rtlCol="0" anchor="t"/>
          <a:lstStyle/>
          <a:p>
            <a:pPr marL="0" indent="0" algn="l">
              <a:lnSpc>
                <a:spcPts val="2050"/>
              </a:lnSpc>
              <a:buNone/>
            </a:pPr>
            <a:r>
              <a:rPr lang="en-US" sz="1600" dirty="0">
                <a:solidFill>
                  <a:srgbClr val="5B5F71"/>
                </a:solidFill>
                <a:latin typeface="Instrument Sans Semi Bold" pitchFamily="34" charset="0"/>
                <a:ea typeface="Instrument Sans Semi Bold" pitchFamily="34" charset="-122"/>
                <a:cs typeface="Instrument Sans Semi Bold" pitchFamily="34" charset="-120"/>
              </a:rPr>
              <a:t>One-Touch Solution</a:t>
            </a:r>
            <a:endParaRPr lang="en-US" sz="1600" dirty="0"/>
          </a:p>
        </p:txBody>
      </p:sp>
      <p:sp>
        <p:nvSpPr>
          <p:cNvPr id="17" name="Text 14"/>
          <p:cNvSpPr/>
          <p:nvPr/>
        </p:nvSpPr>
        <p:spPr>
          <a:xfrm>
            <a:off x="9571196" y="6692979"/>
            <a:ext cx="3303865" cy="693658"/>
          </a:xfrm>
          <a:prstGeom prst="rect">
            <a:avLst/>
          </a:prstGeom>
          <a:noFill/>
          <a:ln/>
        </p:spPr>
        <p:txBody>
          <a:bodyPr wrap="square" lIns="0" tIns="0" rIns="0" bIns="0" rtlCol="0" anchor="t"/>
          <a:lstStyle/>
          <a:p>
            <a:pPr marL="0" indent="0" algn="l">
              <a:lnSpc>
                <a:spcPts val="1800"/>
              </a:lnSpc>
              <a:buNone/>
            </a:pPr>
            <a:r>
              <a:rPr lang="en-US" sz="1300" dirty="0">
                <a:solidFill>
                  <a:srgbClr val="5B5F71"/>
                </a:solidFill>
                <a:latin typeface="Instrument Sans Medium" pitchFamily="34" charset="0"/>
                <a:ea typeface="Instrument Sans Medium" pitchFamily="34" charset="-122"/>
                <a:cs typeface="Instrument Sans Medium" pitchFamily="34" charset="-120"/>
              </a:rPr>
              <a:t>A wearable safety device that activates with a single press, sharing location and audio instantly</a:t>
            </a:r>
            <a:endParaRPr lang="en-US" sz="1300" dirty="0"/>
          </a:p>
        </p:txBody>
      </p:sp>
      <p:pic>
        <p:nvPicPr>
          <p:cNvPr id="19" name="Picture 18">
            <a:extLst>
              <a:ext uri="{FF2B5EF4-FFF2-40B4-BE49-F238E27FC236}">
                <a16:creationId xmlns:a16="http://schemas.microsoft.com/office/drawing/2014/main" id="{CDED4D13-72D5-2BC4-2276-94BC8223D2EE}"/>
              </a:ext>
            </a:extLst>
          </p:cNvPr>
          <p:cNvPicPr>
            <a:picLocks noChangeAspect="1"/>
          </p:cNvPicPr>
          <p:nvPr/>
        </p:nvPicPr>
        <p:blipFill>
          <a:blip r:embed="rId4"/>
          <a:stretch>
            <a:fillRect/>
          </a:stretch>
        </p:blipFill>
        <p:spPr>
          <a:xfrm>
            <a:off x="12745056" y="7784432"/>
            <a:ext cx="1801123" cy="39476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93790" y="895826"/>
            <a:ext cx="1770698" cy="441484"/>
          </a:xfrm>
          <a:prstGeom prst="roundRect">
            <a:avLst>
              <a:gd name="adj" fmla="val 17263"/>
            </a:avLst>
          </a:prstGeom>
          <a:noFill/>
          <a:ln w="7620">
            <a:solidFill>
              <a:srgbClr val="505468"/>
            </a:solidFill>
            <a:prstDash val="solid"/>
          </a:ln>
        </p:spPr>
        <p:txBody>
          <a:bodyPr/>
          <a:lstStyle/>
          <a:p>
            <a:endParaRPr lang="en-IN"/>
          </a:p>
        </p:txBody>
      </p:sp>
      <p:sp>
        <p:nvSpPr>
          <p:cNvPr id="3" name="Text 1"/>
          <p:cNvSpPr/>
          <p:nvPr/>
        </p:nvSpPr>
        <p:spPr>
          <a:xfrm>
            <a:off x="937498" y="971431"/>
            <a:ext cx="1483281" cy="290274"/>
          </a:xfrm>
          <a:prstGeom prst="rect">
            <a:avLst/>
          </a:prstGeom>
          <a:noFill/>
          <a:ln/>
        </p:spPr>
        <p:txBody>
          <a:bodyPr wrap="none" lIns="0" tIns="0" rIns="0" bIns="0" rtlCol="0" anchor="t"/>
          <a:lstStyle/>
          <a:p>
            <a:pPr marL="0" indent="0" algn="l">
              <a:lnSpc>
                <a:spcPts val="2250"/>
              </a:lnSpc>
              <a:buNone/>
            </a:pPr>
            <a:r>
              <a:rPr lang="en-US" sz="1400" dirty="0">
                <a:solidFill>
                  <a:srgbClr val="505468"/>
                </a:solidFill>
                <a:latin typeface="Instrument Sans Medium" pitchFamily="34" charset="0"/>
                <a:ea typeface="Instrument Sans Medium" pitchFamily="34" charset="-122"/>
                <a:cs typeface="Instrument Sans Medium" pitchFamily="34" charset="-120"/>
              </a:rPr>
              <a:t>CORE STRATEGY</a:t>
            </a:r>
            <a:endParaRPr lang="en-US" sz="1400" dirty="0"/>
          </a:p>
        </p:txBody>
      </p:sp>
      <p:sp>
        <p:nvSpPr>
          <p:cNvPr id="4" name="Shape 2"/>
          <p:cNvSpPr/>
          <p:nvPr/>
        </p:nvSpPr>
        <p:spPr>
          <a:xfrm>
            <a:off x="2677835" y="895826"/>
            <a:ext cx="1884045" cy="441484"/>
          </a:xfrm>
          <a:prstGeom prst="roundRect">
            <a:avLst>
              <a:gd name="adj" fmla="val 17263"/>
            </a:avLst>
          </a:prstGeom>
          <a:noFill/>
          <a:ln w="7620">
            <a:solidFill>
              <a:srgbClr val="505468"/>
            </a:solidFill>
            <a:prstDash val="solid"/>
          </a:ln>
        </p:spPr>
        <p:txBody>
          <a:bodyPr/>
          <a:lstStyle/>
          <a:p>
            <a:endParaRPr lang="en-IN"/>
          </a:p>
        </p:txBody>
      </p:sp>
      <p:sp>
        <p:nvSpPr>
          <p:cNvPr id="5" name="Text 3"/>
          <p:cNvSpPr/>
          <p:nvPr/>
        </p:nvSpPr>
        <p:spPr>
          <a:xfrm>
            <a:off x="2821543" y="971431"/>
            <a:ext cx="1596628" cy="290274"/>
          </a:xfrm>
          <a:prstGeom prst="rect">
            <a:avLst/>
          </a:prstGeom>
          <a:noFill/>
          <a:ln/>
        </p:spPr>
        <p:txBody>
          <a:bodyPr wrap="none" lIns="0" tIns="0" rIns="0" bIns="0" rtlCol="0" anchor="t"/>
          <a:lstStyle/>
          <a:p>
            <a:pPr marL="0" indent="0" algn="l">
              <a:lnSpc>
                <a:spcPts val="2250"/>
              </a:lnSpc>
              <a:buNone/>
            </a:pPr>
            <a:r>
              <a:rPr lang="en-US" sz="1400" dirty="0">
                <a:solidFill>
                  <a:srgbClr val="505468"/>
                </a:solidFill>
                <a:latin typeface="Instrument Sans Medium" pitchFamily="34" charset="0"/>
                <a:ea typeface="Instrument Sans Medium" pitchFamily="34" charset="-122"/>
                <a:cs typeface="Instrument Sans Medium" pitchFamily="34" charset="-120"/>
              </a:rPr>
              <a:t>KEY CAPABILITIES</a:t>
            </a:r>
            <a:endParaRPr lang="en-US" sz="1400" dirty="0"/>
          </a:p>
        </p:txBody>
      </p:sp>
      <p:sp>
        <p:nvSpPr>
          <p:cNvPr id="6" name="Text 4"/>
          <p:cNvSpPr/>
          <p:nvPr/>
        </p:nvSpPr>
        <p:spPr>
          <a:xfrm>
            <a:off x="793790" y="1428036"/>
            <a:ext cx="10141506" cy="708779"/>
          </a:xfrm>
          <a:prstGeom prst="rect">
            <a:avLst/>
          </a:prstGeom>
          <a:noFill/>
          <a:ln/>
        </p:spPr>
        <p:txBody>
          <a:bodyPr wrap="none" lIns="0" tIns="0" rIns="0" bIns="0" rtlCol="0" anchor="t"/>
          <a:lstStyle/>
          <a:p>
            <a:pPr marL="0" indent="0" algn="l">
              <a:lnSpc>
                <a:spcPts val="5550"/>
              </a:lnSpc>
              <a:buNone/>
            </a:pPr>
            <a:r>
              <a:rPr lang="en-US" sz="4450" dirty="0">
                <a:solidFill>
                  <a:srgbClr val="505468"/>
                </a:solidFill>
                <a:latin typeface="Instrument Sans Semi Bold" pitchFamily="34" charset="0"/>
                <a:ea typeface="Instrument Sans Semi Bold" pitchFamily="34" charset="-122"/>
                <a:cs typeface="Instrument Sans Semi Bold" pitchFamily="34" charset="-120"/>
              </a:rPr>
              <a:t>Project Objectives &amp; Core Capabilities</a:t>
            </a:r>
            <a:endParaRPr lang="en-US" sz="4450" dirty="0"/>
          </a:p>
        </p:txBody>
      </p:sp>
      <p:pic>
        <p:nvPicPr>
          <p:cNvPr id="7" name="Image 0" descr="preencoded.png"/>
          <p:cNvPicPr>
            <a:picLocks noChangeAspect="1"/>
          </p:cNvPicPr>
          <p:nvPr/>
        </p:nvPicPr>
        <p:blipFill>
          <a:blip r:embed="rId3"/>
          <a:stretch>
            <a:fillRect/>
          </a:stretch>
        </p:blipFill>
        <p:spPr>
          <a:xfrm>
            <a:off x="793790" y="2476976"/>
            <a:ext cx="2994184" cy="2994184"/>
          </a:xfrm>
          <a:prstGeom prst="rect">
            <a:avLst/>
          </a:prstGeom>
        </p:spPr>
      </p:pic>
      <p:sp>
        <p:nvSpPr>
          <p:cNvPr id="8" name="Text 5"/>
          <p:cNvSpPr/>
          <p:nvPr/>
        </p:nvSpPr>
        <p:spPr>
          <a:xfrm>
            <a:off x="793790" y="5754648"/>
            <a:ext cx="3662601" cy="354330"/>
          </a:xfrm>
          <a:prstGeom prst="rect">
            <a:avLst/>
          </a:prstGeom>
          <a:noFill/>
          <a:ln/>
        </p:spPr>
        <p:txBody>
          <a:bodyPr wrap="non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Real-Time Location Sharing</a:t>
            </a:r>
            <a:endParaRPr lang="en-US" sz="2200" dirty="0"/>
          </a:p>
        </p:txBody>
      </p:sp>
      <p:sp>
        <p:nvSpPr>
          <p:cNvPr id="9" name="Text 6"/>
          <p:cNvSpPr/>
          <p:nvPr/>
        </p:nvSpPr>
        <p:spPr>
          <a:xfrm>
            <a:off x="793790" y="6245066"/>
            <a:ext cx="4158615" cy="1088708"/>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Instant GPS coordinates transmitted to emergency contacts with Google Maps integration for precise positioning</a:t>
            </a:r>
            <a:endParaRPr lang="en-US" sz="1750" dirty="0"/>
          </a:p>
        </p:txBody>
      </p:sp>
      <p:pic>
        <p:nvPicPr>
          <p:cNvPr id="10" name="Image 1" descr="preencoded.png"/>
          <p:cNvPicPr>
            <a:picLocks noChangeAspect="1"/>
          </p:cNvPicPr>
          <p:nvPr/>
        </p:nvPicPr>
        <p:blipFill>
          <a:blip r:embed="rId4"/>
          <a:stretch>
            <a:fillRect/>
          </a:stretch>
        </p:blipFill>
        <p:spPr>
          <a:xfrm>
            <a:off x="5235893" y="2476976"/>
            <a:ext cx="2994184" cy="2994184"/>
          </a:xfrm>
          <a:prstGeom prst="rect">
            <a:avLst/>
          </a:prstGeom>
        </p:spPr>
      </p:pic>
      <p:sp>
        <p:nvSpPr>
          <p:cNvPr id="11" name="Text 7"/>
          <p:cNvSpPr/>
          <p:nvPr/>
        </p:nvSpPr>
        <p:spPr>
          <a:xfrm>
            <a:off x="5235893" y="5754648"/>
            <a:ext cx="2952988" cy="354330"/>
          </a:xfrm>
          <a:prstGeom prst="rect">
            <a:avLst/>
          </a:prstGeom>
          <a:noFill/>
          <a:ln/>
        </p:spPr>
        <p:txBody>
          <a:bodyPr wrap="non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Voice Capture System</a:t>
            </a:r>
            <a:endParaRPr lang="en-US" sz="2200" dirty="0"/>
          </a:p>
        </p:txBody>
      </p:sp>
      <p:sp>
        <p:nvSpPr>
          <p:cNvPr id="12" name="Text 8"/>
          <p:cNvSpPr/>
          <p:nvPr/>
        </p:nvSpPr>
        <p:spPr>
          <a:xfrm>
            <a:off x="5235893" y="6245066"/>
            <a:ext cx="4158615" cy="1088708"/>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10-15 second audio recording of surroundings provides situational awareness to first responders</a:t>
            </a:r>
            <a:endParaRPr lang="en-US" sz="1750" dirty="0"/>
          </a:p>
        </p:txBody>
      </p:sp>
      <p:pic>
        <p:nvPicPr>
          <p:cNvPr id="13" name="Image 2" descr="preencoded.png"/>
          <p:cNvPicPr>
            <a:picLocks noChangeAspect="1"/>
          </p:cNvPicPr>
          <p:nvPr/>
        </p:nvPicPr>
        <p:blipFill>
          <a:blip r:embed="rId5"/>
          <a:stretch>
            <a:fillRect/>
          </a:stretch>
        </p:blipFill>
        <p:spPr>
          <a:xfrm>
            <a:off x="9677995" y="2476976"/>
            <a:ext cx="2994184" cy="2994184"/>
          </a:xfrm>
          <a:prstGeom prst="rect">
            <a:avLst/>
          </a:prstGeom>
        </p:spPr>
      </p:pic>
      <p:sp>
        <p:nvSpPr>
          <p:cNvPr id="14" name="Text 9"/>
          <p:cNvSpPr/>
          <p:nvPr/>
        </p:nvSpPr>
        <p:spPr>
          <a:xfrm>
            <a:off x="9677995" y="575464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Instant Alert Delivery</a:t>
            </a:r>
            <a:endParaRPr lang="en-US" sz="2200" dirty="0"/>
          </a:p>
        </p:txBody>
      </p:sp>
      <p:sp>
        <p:nvSpPr>
          <p:cNvPr id="15" name="Text 10"/>
          <p:cNvSpPr/>
          <p:nvPr/>
        </p:nvSpPr>
        <p:spPr>
          <a:xfrm>
            <a:off x="9677995" y="6245066"/>
            <a:ext cx="4483173" cy="1202482"/>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Automated SMS and data transmission ensures emergency contacts receive alerts within seconds</a:t>
            </a:r>
            <a:endParaRPr lang="en-US" sz="1750" dirty="0"/>
          </a:p>
        </p:txBody>
      </p:sp>
      <p:pic>
        <p:nvPicPr>
          <p:cNvPr id="18" name="Picture 17">
            <a:extLst>
              <a:ext uri="{FF2B5EF4-FFF2-40B4-BE49-F238E27FC236}">
                <a16:creationId xmlns:a16="http://schemas.microsoft.com/office/drawing/2014/main" id="{35BF250E-AFB5-80B3-6D4A-DCA8A837C37C}"/>
              </a:ext>
            </a:extLst>
          </p:cNvPr>
          <p:cNvPicPr>
            <a:picLocks noChangeAspect="1"/>
          </p:cNvPicPr>
          <p:nvPr/>
        </p:nvPicPr>
        <p:blipFill>
          <a:blip r:embed="rId6"/>
          <a:stretch>
            <a:fillRect/>
          </a:stretch>
        </p:blipFill>
        <p:spPr>
          <a:xfrm>
            <a:off x="12513230" y="7704032"/>
            <a:ext cx="2086266" cy="4572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1526381" y="490180"/>
            <a:ext cx="11577637" cy="874990"/>
          </a:xfrm>
          <a:prstGeom prst="roundRect">
            <a:avLst>
              <a:gd name="adj" fmla="val 8054"/>
            </a:avLst>
          </a:prstGeom>
          <a:solidFill>
            <a:srgbClr val="E2E3E9"/>
          </a:solidFill>
          <a:ln w="7620">
            <a:solidFill>
              <a:srgbClr val="C8C9CF"/>
            </a:solidFill>
            <a:prstDash val="solid"/>
          </a:ln>
        </p:spPr>
        <p:txBody>
          <a:bodyPr/>
          <a:lstStyle/>
          <a:p>
            <a:endParaRPr lang="en-IN"/>
          </a:p>
        </p:txBody>
      </p:sp>
      <p:sp>
        <p:nvSpPr>
          <p:cNvPr id="3" name="Text 1"/>
          <p:cNvSpPr/>
          <p:nvPr/>
        </p:nvSpPr>
        <p:spPr>
          <a:xfrm>
            <a:off x="1701760" y="665559"/>
            <a:ext cx="6946821" cy="524232"/>
          </a:xfrm>
          <a:prstGeom prst="rect">
            <a:avLst/>
          </a:prstGeom>
          <a:noFill/>
          <a:ln/>
        </p:spPr>
        <p:txBody>
          <a:bodyPr wrap="none" lIns="0" tIns="0" rIns="0" bIns="0" rtlCol="0" anchor="t"/>
          <a:lstStyle/>
          <a:p>
            <a:pPr marL="0" indent="0" algn="l">
              <a:lnSpc>
                <a:spcPts val="4100"/>
              </a:lnSpc>
              <a:buNone/>
            </a:pPr>
            <a:r>
              <a:rPr lang="en-US" sz="3300" dirty="0">
                <a:solidFill>
                  <a:srgbClr val="5B5F71"/>
                </a:solidFill>
                <a:latin typeface="Instrument Sans Semi Bold" pitchFamily="34" charset="0"/>
                <a:ea typeface="Instrument Sans Semi Bold" pitchFamily="34" charset="-122"/>
                <a:cs typeface="Instrument Sans Semi Bold" pitchFamily="34" charset="-120"/>
              </a:rPr>
              <a:t>Selecting the Best Controller Board</a:t>
            </a:r>
            <a:endParaRPr lang="en-US" sz="3300" dirty="0"/>
          </a:p>
        </p:txBody>
      </p:sp>
      <p:sp>
        <p:nvSpPr>
          <p:cNvPr id="4" name="Text 2"/>
          <p:cNvSpPr/>
          <p:nvPr/>
        </p:nvSpPr>
        <p:spPr>
          <a:xfrm>
            <a:off x="1526381" y="1504712"/>
            <a:ext cx="11577637" cy="466963"/>
          </a:xfrm>
          <a:prstGeom prst="rect">
            <a:avLst/>
          </a:prstGeom>
          <a:noFill/>
          <a:ln/>
        </p:spPr>
        <p:txBody>
          <a:bodyPr wrap="square" lIns="0" tIns="0" rIns="0" bIns="0" rtlCol="0" anchor="t"/>
          <a:lstStyle/>
          <a:p>
            <a:pPr marL="0" indent="0" algn="l">
              <a:lnSpc>
                <a:spcPts val="1800"/>
              </a:lnSpc>
              <a:buNone/>
            </a:pPr>
            <a:r>
              <a:rPr lang="en-US" sz="1300" dirty="0">
                <a:solidFill>
                  <a:srgbClr val="5B5F71"/>
                </a:solidFill>
                <a:latin typeface="Instrument Sans Medium" pitchFamily="34" charset="0"/>
                <a:ea typeface="Instrument Sans Medium" pitchFamily="34" charset="-122"/>
                <a:cs typeface="Instrument Sans Medium" pitchFamily="34" charset="-120"/>
              </a:rPr>
              <a:t>The controller board serves as the brain of the SOS device, managing button input detection, GPS data processing, audio capture, and wireless communication. Choosing the right microcontroller is critical for system reliability and performance.</a:t>
            </a:r>
            <a:endParaRPr lang="en-US" sz="1300" dirty="0"/>
          </a:p>
        </p:txBody>
      </p:sp>
      <p:sp>
        <p:nvSpPr>
          <p:cNvPr id="5" name="Shape 3"/>
          <p:cNvSpPr/>
          <p:nvPr/>
        </p:nvSpPr>
        <p:spPr>
          <a:xfrm>
            <a:off x="1526381" y="2111216"/>
            <a:ext cx="5726787" cy="5628203"/>
          </a:xfrm>
          <a:prstGeom prst="roundRect">
            <a:avLst>
              <a:gd name="adj" fmla="val 1252"/>
            </a:avLst>
          </a:prstGeom>
          <a:solidFill>
            <a:srgbClr val="E2E3E9"/>
          </a:solidFill>
          <a:ln w="7620">
            <a:solidFill>
              <a:srgbClr val="C8C9CF"/>
            </a:solidFill>
            <a:prstDash val="solid"/>
          </a:ln>
        </p:spPr>
        <p:txBody>
          <a:bodyPr/>
          <a:lstStyle/>
          <a:p>
            <a:endParaRPr lang="en-IN" dirty="0"/>
          </a:p>
        </p:txBody>
      </p:sp>
      <p:pic>
        <p:nvPicPr>
          <p:cNvPr id="6" name="Image 0" descr="preencoded.png"/>
          <p:cNvPicPr>
            <a:picLocks noChangeAspect="1"/>
          </p:cNvPicPr>
          <p:nvPr/>
        </p:nvPicPr>
        <p:blipFill>
          <a:blip r:embed="rId3"/>
          <a:stretch>
            <a:fillRect/>
          </a:stretch>
        </p:blipFill>
        <p:spPr>
          <a:xfrm>
            <a:off x="1701760" y="2286595"/>
            <a:ext cx="5376029" cy="4334351"/>
          </a:xfrm>
          <a:prstGeom prst="rect">
            <a:avLst/>
          </a:prstGeom>
        </p:spPr>
      </p:pic>
      <p:sp>
        <p:nvSpPr>
          <p:cNvPr id="7" name="Text 4"/>
          <p:cNvSpPr/>
          <p:nvPr/>
        </p:nvSpPr>
        <p:spPr>
          <a:xfrm>
            <a:off x="1701760" y="6760488"/>
            <a:ext cx="2097286" cy="262176"/>
          </a:xfrm>
          <a:prstGeom prst="rect">
            <a:avLst/>
          </a:prstGeom>
          <a:noFill/>
          <a:ln/>
        </p:spPr>
        <p:txBody>
          <a:bodyPr wrap="none" lIns="0" tIns="0" rIns="0" bIns="0" rtlCol="0" anchor="t"/>
          <a:lstStyle/>
          <a:p>
            <a:pPr marL="0" indent="0" algn="l">
              <a:lnSpc>
                <a:spcPts val="2050"/>
              </a:lnSpc>
              <a:buNone/>
            </a:pPr>
            <a:r>
              <a:rPr lang="en-US" sz="1650" dirty="0">
                <a:solidFill>
                  <a:srgbClr val="5B5F71"/>
                </a:solidFill>
                <a:latin typeface="Instrument Sans Semi Bold" pitchFamily="34" charset="0"/>
                <a:ea typeface="Instrument Sans Semi Bold" pitchFamily="34" charset="-122"/>
                <a:cs typeface="Instrument Sans Semi Bold" pitchFamily="34" charset="-120"/>
              </a:rPr>
              <a:t>Arduino Board</a:t>
            </a:r>
            <a:endParaRPr lang="en-US" sz="1650" dirty="0"/>
          </a:p>
        </p:txBody>
      </p:sp>
      <p:sp>
        <p:nvSpPr>
          <p:cNvPr id="8" name="Text 5"/>
          <p:cNvSpPr/>
          <p:nvPr/>
        </p:nvSpPr>
        <p:spPr>
          <a:xfrm>
            <a:off x="1701760" y="7097078"/>
            <a:ext cx="5376029" cy="466963"/>
          </a:xfrm>
          <a:prstGeom prst="rect">
            <a:avLst/>
          </a:prstGeom>
          <a:noFill/>
          <a:ln/>
        </p:spPr>
        <p:txBody>
          <a:bodyPr wrap="square" lIns="0" tIns="0" rIns="0" bIns="0" rtlCol="0" anchor="t"/>
          <a:lstStyle/>
          <a:p>
            <a:pPr marL="0" indent="0" algn="l">
              <a:lnSpc>
                <a:spcPts val="1800"/>
              </a:lnSpc>
              <a:buNone/>
            </a:pPr>
            <a:r>
              <a:rPr lang="en-US" sz="1300" dirty="0">
                <a:solidFill>
                  <a:srgbClr val="5B5F71"/>
                </a:solidFill>
                <a:latin typeface="Instrument Sans Medium" pitchFamily="34" charset="0"/>
                <a:ea typeface="Instrument Sans Medium" pitchFamily="34" charset="-122"/>
                <a:cs typeface="Instrument Sans Medium" pitchFamily="34" charset="-120"/>
              </a:rPr>
              <a:t>Popular beginner-friendly platform with extensive community support</a:t>
            </a:r>
            <a:endParaRPr lang="en-US" sz="1300" dirty="0"/>
          </a:p>
        </p:txBody>
      </p:sp>
      <p:pic>
        <p:nvPicPr>
          <p:cNvPr id="14" name="Picture 13">
            <a:extLst>
              <a:ext uri="{FF2B5EF4-FFF2-40B4-BE49-F238E27FC236}">
                <a16:creationId xmlns:a16="http://schemas.microsoft.com/office/drawing/2014/main" id="{46CA20A0-3674-0F0F-DCB8-CE3208729BF6}"/>
              </a:ext>
            </a:extLst>
          </p:cNvPr>
          <p:cNvPicPr>
            <a:picLocks noChangeAspect="1"/>
          </p:cNvPicPr>
          <p:nvPr/>
        </p:nvPicPr>
        <p:blipFill>
          <a:blip r:embed="rId4"/>
          <a:stretch>
            <a:fillRect/>
          </a:stretch>
        </p:blipFill>
        <p:spPr>
          <a:xfrm>
            <a:off x="7377234" y="2111216"/>
            <a:ext cx="5736833" cy="5639289"/>
          </a:xfrm>
          <a:prstGeom prst="rect">
            <a:avLst/>
          </a:prstGeom>
        </p:spPr>
      </p:pic>
      <p:pic>
        <p:nvPicPr>
          <p:cNvPr id="15" name="Picture 14">
            <a:extLst>
              <a:ext uri="{FF2B5EF4-FFF2-40B4-BE49-F238E27FC236}">
                <a16:creationId xmlns:a16="http://schemas.microsoft.com/office/drawing/2014/main" id="{58DC1877-6F84-9542-7D98-9A6BF0C177B0}"/>
              </a:ext>
            </a:extLst>
          </p:cNvPr>
          <p:cNvPicPr>
            <a:picLocks noChangeAspect="1"/>
          </p:cNvPicPr>
          <p:nvPr/>
        </p:nvPicPr>
        <p:blipFill>
          <a:blip r:embed="rId5"/>
          <a:stretch>
            <a:fillRect/>
          </a:stretch>
        </p:blipFill>
        <p:spPr>
          <a:xfrm>
            <a:off x="7428547" y="2807679"/>
            <a:ext cx="5377138" cy="2798307"/>
          </a:xfrm>
          <a:prstGeom prst="rect">
            <a:avLst/>
          </a:prstGeom>
        </p:spPr>
      </p:pic>
      <p:sp>
        <p:nvSpPr>
          <p:cNvPr id="19" name="TextBox 18">
            <a:extLst>
              <a:ext uri="{FF2B5EF4-FFF2-40B4-BE49-F238E27FC236}">
                <a16:creationId xmlns:a16="http://schemas.microsoft.com/office/drawing/2014/main" id="{F83D3B37-3462-CE20-5F4E-C6F498493D9E}"/>
              </a:ext>
            </a:extLst>
          </p:cNvPr>
          <p:cNvSpPr txBox="1"/>
          <p:nvPr/>
        </p:nvSpPr>
        <p:spPr>
          <a:xfrm>
            <a:off x="7551502" y="5985748"/>
            <a:ext cx="3002280" cy="369332"/>
          </a:xfrm>
          <a:prstGeom prst="rect">
            <a:avLst/>
          </a:prstGeom>
          <a:noFill/>
        </p:spPr>
        <p:txBody>
          <a:bodyPr wrap="square" rtlCol="0">
            <a:spAutoFit/>
          </a:bodyPr>
          <a:lstStyle/>
          <a:p>
            <a:r>
              <a:rPr lang="en-US" dirty="0">
                <a:solidFill>
                  <a:srgbClr val="5B5F71"/>
                </a:solidFill>
                <a:latin typeface="Instrument Sans Semi Bold" pitchFamily="34" charset="0"/>
                <a:ea typeface="Instrument Sans Semi Bold" pitchFamily="34" charset="-122"/>
                <a:cs typeface="Instrument Sans Semi Bold" pitchFamily="34" charset="-120"/>
              </a:rPr>
              <a:t>ESP32 Board</a:t>
            </a:r>
            <a:endParaRPr lang="en-IN" dirty="0"/>
          </a:p>
        </p:txBody>
      </p:sp>
      <p:sp>
        <p:nvSpPr>
          <p:cNvPr id="20" name="TextBox 19">
            <a:extLst>
              <a:ext uri="{FF2B5EF4-FFF2-40B4-BE49-F238E27FC236}">
                <a16:creationId xmlns:a16="http://schemas.microsoft.com/office/drawing/2014/main" id="{6721C99D-19DB-8B15-33FB-E54C664D4E91}"/>
              </a:ext>
            </a:extLst>
          </p:cNvPr>
          <p:cNvSpPr txBox="1"/>
          <p:nvPr/>
        </p:nvSpPr>
        <p:spPr>
          <a:xfrm>
            <a:off x="7551502" y="6355080"/>
            <a:ext cx="5082458" cy="646331"/>
          </a:xfrm>
          <a:prstGeom prst="rect">
            <a:avLst/>
          </a:prstGeom>
          <a:noFill/>
        </p:spPr>
        <p:txBody>
          <a:bodyPr wrap="square" rtlCol="0">
            <a:spAutoFit/>
          </a:bodyPr>
          <a:lstStyle/>
          <a:p>
            <a:r>
              <a:rPr lang="en-US">
                <a:solidFill>
                  <a:srgbClr val="5B5F71"/>
                </a:solidFill>
                <a:latin typeface="Instrument Sans Medium" pitchFamily="34" charset="0"/>
                <a:ea typeface="Instrument Sans Medium" pitchFamily="34" charset="-122"/>
                <a:cs typeface="Instrument Sans Medium" pitchFamily="34" charset="-120"/>
              </a:rPr>
              <a:t>Advanced dual-core processor with built-in wireless connectivity</a:t>
            </a:r>
            <a:endParaRPr lang="en-IN" dirty="0"/>
          </a:p>
        </p:txBody>
      </p:sp>
      <p:pic>
        <p:nvPicPr>
          <p:cNvPr id="22" name="Picture 21">
            <a:extLst>
              <a:ext uri="{FF2B5EF4-FFF2-40B4-BE49-F238E27FC236}">
                <a16:creationId xmlns:a16="http://schemas.microsoft.com/office/drawing/2014/main" id="{2EE66BE5-281C-50E8-FE9E-225BAD2C593C}"/>
              </a:ext>
            </a:extLst>
          </p:cNvPr>
          <p:cNvPicPr>
            <a:picLocks noChangeAspect="1"/>
          </p:cNvPicPr>
          <p:nvPr/>
        </p:nvPicPr>
        <p:blipFill>
          <a:blip r:embed="rId6"/>
          <a:stretch>
            <a:fillRect/>
          </a:stretch>
        </p:blipFill>
        <p:spPr>
          <a:xfrm>
            <a:off x="12544134" y="7772336"/>
            <a:ext cx="2086266" cy="4572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555BF4-CA60-A79B-C963-5DA8A987B7F1}"/>
              </a:ext>
            </a:extLst>
          </p:cNvPr>
          <p:cNvSpPr txBox="1"/>
          <p:nvPr/>
        </p:nvSpPr>
        <p:spPr>
          <a:xfrm>
            <a:off x="3718560" y="487680"/>
            <a:ext cx="6736080" cy="1569660"/>
          </a:xfrm>
          <a:prstGeom prst="rect">
            <a:avLst/>
          </a:prstGeom>
          <a:noFill/>
        </p:spPr>
        <p:txBody>
          <a:bodyPr wrap="square" rtlCol="0">
            <a:spAutoFit/>
          </a:bodyPr>
          <a:lstStyle/>
          <a:p>
            <a:r>
              <a:rPr lang="en-IN" sz="4800" b="1" u="sng" dirty="0">
                <a:solidFill>
                  <a:schemeClr val="tx1">
                    <a:lumMod val="75000"/>
                    <a:lumOff val="25000"/>
                  </a:schemeClr>
                </a:solidFill>
              </a:rPr>
              <a:t>Required Software Tools</a:t>
            </a:r>
          </a:p>
          <a:p>
            <a:endParaRPr lang="en-IN" sz="4800" u="sng" dirty="0">
              <a:solidFill>
                <a:schemeClr val="tx1">
                  <a:lumMod val="75000"/>
                  <a:lumOff val="25000"/>
                </a:schemeClr>
              </a:solidFill>
            </a:endParaRPr>
          </a:p>
        </p:txBody>
      </p:sp>
      <p:sp>
        <p:nvSpPr>
          <p:cNvPr id="3" name="TextBox 2">
            <a:extLst>
              <a:ext uri="{FF2B5EF4-FFF2-40B4-BE49-F238E27FC236}">
                <a16:creationId xmlns:a16="http://schemas.microsoft.com/office/drawing/2014/main" id="{4D69BCC7-D514-AE79-5A5D-E44C349163A5}"/>
              </a:ext>
            </a:extLst>
          </p:cNvPr>
          <p:cNvSpPr txBox="1"/>
          <p:nvPr/>
        </p:nvSpPr>
        <p:spPr>
          <a:xfrm>
            <a:off x="1173480" y="1813500"/>
            <a:ext cx="6141720" cy="5632311"/>
          </a:xfrm>
          <a:prstGeom prst="rect">
            <a:avLst/>
          </a:prstGeom>
          <a:noFill/>
        </p:spPr>
        <p:txBody>
          <a:bodyPr wrap="square" rtlCol="0">
            <a:spAutoFit/>
          </a:bodyPr>
          <a:lstStyle/>
          <a:p>
            <a:pPr marL="742950" lvl="1" indent="-285750">
              <a:buFont typeface="Arial" panose="020B0604020202020204" pitchFamily="34" charset="0"/>
              <a:buChar char="•"/>
            </a:pPr>
            <a:r>
              <a:rPr lang="en-IN" sz="4000" dirty="0"/>
              <a:t>Arduino IDE</a:t>
            </a:r>
          </a:p>
          <a:p>
            <a:pPr marL="742950" lvl="1" indent="-285750">
              <a:buFont typeface="Arial" panose="020B0604020202020204" pitchFamily="34" charset="0"/>
              <a:buChar char="•"/>
            </a:pPr>
            <a:r>
              <a:rPr lang="en-IN" sz="4000" dirty="0"/>
              <a:t>ESP32 Board Package</a:t>
            </a:r>
          </a:p>
          <a:p>
            <a:pPr marL="742950" lvl="1" indent="-285750">
              <a:buFont typeface="Arial" panose="020B0604020202020204" pitchFamily="34" charset="0"/>
              <a:buChar char="•"/>
            </a:pPr>
            <a:r>
              <a:rPr lang="en-IN" sz="4000" dirty="0"/>
              <a:t>Embedded C / Arduino C++</a:t>
            </a:r>
          </a:p>
          <a:p>
            <a:pPr marL="742950" lvl="1" indent="-285750">
              <a:buFont typeface="Arial" panose="020B0604020202020204" pitchFamily="34" charset="0"/>
              <a:buChar char="•"/>
            </a:pPr>
            <a:r>
              <a:rPr lang="en-IN" sz="4000" dirty="0"/>
              <a:t>Google Maps API (for location link)</a:t>
            </a:r>
          </a:p>
          <a:p>
            <a:pPr marL="742950" lvl="1" indent="-285750">
              <a:buFont typeface="Arial" panose="020B0604020202020204" pitchFamily="34" charset="0"/>
              <a:buChar char="•"/>
            </a:pPr>
            <a:r>
              <a:rPr lang="en-IN" sz="4000" dirty="0"/>
              <a:t>AT Commands for GSM</a:t>
            </a:r>
          </a:p>
          <a:p>
            <a:pPr marL="742950" lvl="1" indent="-285750">
              <a:buFont typeface="Arial" panose="020B0604020202020204" pitchFamily="34" charset="0"/>
              <a:buChar char="•"/>
            </a:pPr>
            <a:r>
              <a:rPr lang="en-IN" sz="4000" dirty="0"/>
              <a:t>Fritzing (for circuit diagram)</a:t>
            </a:r>
          </a:p>
        </p:txBody>
      </p:sp>
      <p:pic>
        <p:nvPicPr>
          <p:cNvPr id="5" name="Picture 4">
            <a:extLst>
              <a:ext uri="{FF2B5EF4-FFF2-40B4-BE49-F238E27FC236}">
                <a16:creationId xmlns:a16="http://schemas.microsoft.com/office/drawing/2014/main" id="{428FD71A-84A9-7280-7480-A88577441104}"/>
              </a:ext>
            </a:extLst>
          </p:cNvPr>
          <p:cNvPicPr>
            <a:picLocks noChangeAspect="1"/>
          </p:cNvPicPr>
          <p:nvPr/>
        </p:nvPicPr>
        <p:blipFill>
          <a:blip r:embed="rId2"/>
          <a:stretch>
            <a:fillRect/>
          </a:stretch>
        </p:blipFill>
        <p:spPr>
          <a:xfrm>
            <a:off x="7435515" y="3355501"/>
            <a:ext cx="7109821" cy="4753783"/>
          </a:xfrm>
          <a:prstGeom prst="rect">
            <a:avLst/>
          </a:prstGeom>
        </p:spPr>
      </p:pic>
    </p:spTree>
    <p:extLst>
      <p:ext uri="{BB962C8B-B14F-4D97-AF65-F5344CB8AC3E}">
        <p14:creationId xmlns:p14="http://schemas.microsoft.com/office/powerpoint/2010/main" val="2006968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11279"/>
            <a:ext cx="8776930" cy="708779"/>
          </a:xfrm>
          <a:prstGeom prst="rect">
            <a:avLst/>
          </a:prstGeom>
          <a:noFill/>
          <a:ln/>
        </p:spPr>
        <p:txBody>
          <a:bodyPr wrap="none" lIns="0" tIns="0" rIns="0" bIns="0" rtlCol="0" anchor="t"/>
          <a:lstStyle/>
          <a:p>
            <a:pPr marL="0" indent="0" algn="l">
              <a:lnSpc>
                <a:spcPts val="5550"/>
              </a:lnSpc>
              <a:buNone/>
            </a:pPr>
            <a:r>
              <a:rPr lang="en-US" sz="4450" dirty="0">
                <a:solidFill>
                  <a:srgbClr val="505468"/>
                </a:solidFill>
                <a:latin typeface="Instrument Sans Semi Bold" pitchFamily="34" charset="0"/>
                <a:ea typeface="Instrument Sans Semi Bold" pitchFamily="34" charset="-122"/>
                <a:cs typeface="Instrument Sans Semi Bold" pitchFamily="34" charset="-120"/>
              </a:rPr>
              <a:t>General Hardware Requirements</a:t>
            </a:r>
            <a:endParaRPr lang="en-US" sz="44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790" y="1873687"/>
            <a:ext cx="566976" cy="566976"/>
          </a:xfrm>
          <a:prstGeom prst="rect">
            <a:avLst/>
          </a:prstGeom>
        </p:spPr>
      </p:pic>
      <p:sp>
        <p:nvSpPr>
          <p:cNvPr id="4" name="Text 1"/>
          <p:cNvSpPr/>
          <p:nvPr/>
        </p:nvSpPr>
        <p:spPr>
          <a:xfrm>
            <a:off x="1644253" y="187368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GPS Module</a:t>
            </a:r>
            <a:endParaRPr lang="en-US" sz="2200" dirty="0"/>
          </a:p>
        </p:txBody>
      </p:sp>
      <p:sp>
        <p:nvSpPr>
          <p:cNvPr id="5" name="Text 2"/>
          <p:cNvSpPr/>
          <p:nvPr/>
        </p:nvSpPr>
        <p:spPr>
          <a:xfrm>
            <a:off x="1644253" y="2364105"/>
            <a:ext cx="5529143" cy="1088708"/>
          </a:xfrm>
          <a:prstGeom prst="rect">
            <a:avLst/>
          </a:prstGeom>
          <a:noFill/>
          <a:ln/>
        </p:spPr>
        <p:txBody>
          <a:bodyPr wrap="square" lIns="0" tIns="0" rIns="0" bIns="0" rtlCol="0" anchor="t"/>
          <a:lstStyle/>
          <a:p>
            <a:pPr marL="0" indent="0" algn="l">
              <a:lnSpc>
                <a:spcPts val="2850"/>
              </a:lnSpc>
              <a:buNone/>
            </a:pPr>
            <a:r>
              <a:rPr lang="en-US" sz="1750" b="1" dirty="0">
                <a:solidFill>
                  <a:srgbClr val="5B5F71"/>
                </a:solidFill>
                <a:latin typeface="Instrument Sans Medium" pitchFamily="34" charset="0"/>
                <a:ea typeface="Instrument Sans Medium" pitchFamily="34" charset="-122"/>
                <a:cs typeface="Instrument Sans Medium" pitchFamily="34" charset="-120"/>
              </a:rPr>
              <a:t>NEO-6M / NEO-7M:</a:t>
            </a:r>
            <a:r>
              <a:rPr lang="en-US" sz="1750" dirty="0">
                <a:solidFill>
                  <a:srgbClr val="5B5F71"/>
                </a:solidFill>
                <a:latin typeface="Instrument Sans Medium" pitchFamily="34" charset="0"/>
                <a:ea typeface="Instrument Sans Medium" pitchFamily="34" charset="-122"/>
                <a:cs typeface="Instrument Sans Medium" pitchFamily="34" charset="-120"/>
              </a:rPr>
              <a:t> Captures real-time latitude and longitude coordinates with high accuracy for precise location sharing</a:t>
            </a:r>
            <a:endParaRPr lang="en-US" sz="17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56884" y="1873687"/>
            <a:ext cx="566976" cy="566976"/>
          </a:xfrm>
          <a:prstGeom prst="rect">
            <a:avLst/>
          </a:prstGeom>
        </p:spPr>
      </p:pic>
      <p:sp>
        <p:nvSpPr>
          <p:cNvPr id="7" name="Text 3"/>
          <p:cNvSpPr/>
          <p:nvPr/>
        </p:nvSpPr>
        <p:spPr>
          <a:xfrm>
            <a:off x="8307348" y="187368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SOS Push Button</a:t>
            </a:r>
            <a:endParaRPr lang="en-US" sz="2200" dirty="0"/>
          </a:p>
        </p:txBody>
      </p:sp>
      <p:sp>
        <p:nvSpPr>
          <p:cNvPr id="8" name="Text 4"/>
          <p:cNvSpPr/>
          <p:nvPr/>
        </p:nvSpPr>
        <p:spPr>
          <a:xfrm>
            <a:off x="8307348" y="2364105"/>
            <a:ext cx="5529263" cy="1088708"/>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Physical panic trigger with 5-second press-and-hold activation to prevent accidental alerts while ensuring quick access</a:t>
            </a:r>
            <a:endParaRPr lang="en-US" sz="17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3790" y="3906441"/>
            <a:ext cx="566976" cy="566976"/>
          </a:xfrm>
          <a:prstGeom prst="rect">
            <a:avLst/>
          </a:prstGeom>
        </p:spPr>
      </p:pic>
      <p:sp>
        <p:nvSpPr>
          <p:cNvPr id="10" name="Text 5"/>
          <p:cNvSpPr/>
          <p:nvPr/>
        </p:nvSpPr>
        <p:spPr>
          <a:xfrm>
            <a:off x="1644253" y="390644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Microphone Module</a:t>
            </a:r>
            <a:endParaRPr lang="en-US" sz="2200" dirty="0"/>
          </a:p>
        </p:txBody>
      </p:sp>
      <p:sp>
        <p:nvSpPr>
          <p:cNvPr id="11" name="Text 6"/>
          <p:cNvSpPr/>
          <p:nvPr/>
        </p:nvSpPr>
        <p:spPr>
          <a:xfrm>
            <a:off x="1644253" y="4396859"/>
            <a:ext cx="5529143" cy="1088708"/>
          </a:xfrm>
          <a:prstGeom prst="rect">
            <a:avLst/>
          </a:prstGeom>
          <a:noFill/>
          <a:ln/>
        </p:spPr>
        <p:txBody>
          <a:bodyPr wrap="square" lIns="0" tIns="0" rIns="0" bIns="0" rtlCol="0" anchor="t"/>
          <a:lstStyle/>
          <a:p>
            <a:pPr>
              <a:lnSpc>
                <a:spcPts val="2850"/>
              </a:lnSpc>
            </a:pPr>
            <a:r>
              <a:rPr lang="en-IN" b="1" dirty="0">
                <a:solidFill>
                  <a:schemeClr val="tx1">
                    <a:lumMod val="75000"/>
                    <a:lumOff val="25000"/>
                  </a:schemeClr>
                </a:solidFill>
              </a:rPr>
              <a:t>I2S Microphone (MAX9814) </a:t>
            </a:r>
            <a:r>
              <a:rPr lang="en-US" sz="1750" b="1" dirty="0">
                <a:solidFill>
                  <a:srgbClr val="5B5F71"/>
                </a:solidFill>
                <a:latin typeface="Instrument Sans Medium" pitchFamily="34" charset="0"/>
                <a:ea typeface="Instrument Sans Medium" pitchFamily="34" charset="-122"/>
                <a:cs typeface="Instrument Sans Medium" pitchFamily="34" charset="-120"/>
              </a:rPr>
              <a:t>:</a:t>
            </a:r>
            <a:r>
              <a:rPr lang="en-US" sz="1750" dirty="0">
                <a:solidFill>
                  <a:srgbClr val="5B5F71"/>
                </a:solidFill>
                <a:latin typeface="Instrument Sans Medium" pitchFamily="34" charset="0"/>
                <a:ea typeface="Instrument Sans Medium" pitchFamily="34" charset="-122"/>
                <a:cs typeface="Instrument Sans Medium" pitchFamily="34" charset="-120"/>
              </a:rPr>
              <a:t> Captures high-quality ambient audio for 10-15 seconds, providing critical situational context</a:t>
            </a:r>
            <a:endParaRPr lang="en-US" sz="17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56884" y="3906441"/>
            <a:ext cx="566976" cy="566976"/>
          </a:xfrm>
          <a:prstGeom prst="rect">
            <a:avLst/>
          </a:prstGeom>
        </p:spPr>
      </p:pic>
      <p:sp>
        <p:nvSpPr>
          <p:cNvPr id="13" name="Text 7"/>
          <p:cNvSpPr/>
          <p:nvPr/>
        </p:nvSpPr>
        <p:spPr>
          <a:xfrm>
            <a:off x="8307348" y="390644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GSM Module</a:t>
            </a:r>
            <a:endParaRPr lang="en-US" sz="2200" dirty="0"/>
          </a:p>
        </p:txBody>
      </p:sp>
      <p:sp>
        <p:nvSpPr>
          <p:cNvPr id="14" name="Text 8"/>
          <p:cNvSpPr/>
          <p:nvPr/>
        </p:nvSpPr>
        <p:spPr>
          <a:xfrm>
            <a:off x="8307348" y="4396859"/>
            <a:ext cx="5529263" cy="725805"/>
          </a:xfrm>
          <a:prstGeom prst="rect">
            <a:avLst/>
          </a:prstGeom>
          <a:noFill/>
          <a:ln/>
        </p:spPr>
        <p:txBody>
          <a:bodyPr wrap="square" lIns="0" tIns="0" rIns="0" bIns="0" rtlCol="0" anchor="t"/>
          <a:lstStyle/>
          <a:p>
            <a:pPr marL="0" indent="0" algn="l">
              <a:lnSpc>
                <a:spcPts val="2850"/>
              </a:lnSpc>
              <a:buNone/>
            </a:pPr>
            <a:r>
              <a:rPr lang="en-US" sz="1750" b="1" dirty="0">
                <a:solidFill>
                  <a:srgbClr val="5B5F71"/>
                </a:solidFill>
                <a:latin typeface="Instrument Sans Medium" pitchFamily="34" charset="0"/>
                <a:ea typeface="Instrument Sans Medium" pitchFamily="34" charset="-122"/>
                <a:cs typeface="Instrument Sans Medium" pitchFamily="34" charset="-120"/>
              </a:rPr>
              <a:t>SIM800L / E9G:</a:t>
            </a:r>
            <a:r>
              <a:rPr lang="en-US" sz="1750" dirty="0">
                <a:solidFill>
                  <a:srgbClr val="5B5F71"/>
                </a:solidFill>
                <a:latin typeface="Instrument Sans Medium" pitchFamily="34" charset="0"/>
                <a:ea typeface="Instrument Sans Medium" pitchFamily="34" charset="-122"/>
                <a:cs typeface="Instrument Sans Medium" pitchFamily="34" charset="-120"/>
              </a:rPr>
              <a:t> Transmits SMS alerts, initiates calls, and sends data packets over cellular networks</a:t>
            </a:r>
            <a:endParaRPr lang="en-US" sz="175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3790" y="5939195"/>
            <a:ext cx="566976" cy="566976"/>
          </a:xfrm>
          <a:prstGeom prst="rect">
            <a:avLst/>
          </a:prstGeom>
        </p:spPr>
      </p:pic>
      <p:sp>
        <p:nvSpPr>
          <p:cNvPr id="16" name="Text 9"/>
          <p:cNvSpPr/>
          <p:nvPr/>
        </p:nvSpPr>
        <p:spPr>
          <a:xfrm>
            <a:off x="1644253" y="593919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Power System</a:t>
            </a:r>
            <a:endParaRPr lang="en-US" sz="2200" dirty="0"/>
          </a:p>
        </p:txBody>
      </p:sp>
      <p:sp>
        <p:nvSpPr>
          <p:cNvPr id="17" name="Text 10"/>
          <p:cNvSpPr/>
          <p:nvPr/>
        </p:nvSpPr>
        <p:spPr>
          <a:xfrm>
            <a:off x="1644253" y="6429613"/>
            <a:ext cx="5529143" cy="1088708"/>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Rechargeable Li-ion battery with charging module and voltage regulation for portable, reliable operation</a:t>
            </a:r>
            <a:endParaRPr lang="en-US" sz="1750" dirty="0"/>
          </a:p>
        </p:txBody>
      </p:sp>
      <p:pic>
        <p:nvPicPr>
          <p:cNvPr id="1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56884" y="5939195"/>
            <a:ext cx="566976" cy="566976"/>
          </a:xfrm>
          <a:prstGeom prst="rect">
            <a:avLst/>
          </a:prstGeom>
        </p:spPr>
      </p:pic>
      <p:sp>
        <p:nvSpPr>
          <p:cNvPr id="19" name="Text 11"/>
          <p:cNvSpPr/>
          <p:nvPr/>
        </p:nvSpPr>
        <p:spPr>
          <a:xfrm>
            <a:off x="8307348" y="593919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Feedback Indicators</a:t>
            </a:r>
            <a:endParaRPr lang="en-US" sz="2200" dirty="0"/>
          </a:p>
        </p:txBody>
      </p:sp>
      <p:sp>
        <p:nvSpPr>
          <p:cNvPr id="20" name="Text 12"/>
          <p:cNvSpPr/>
          <p:nvPr/>
        </p:nvSpPr>
        <p:spPr>
          <a:xfrm>
            <a:off x="8307348" y="6429613"/>
            <a:ext cx="5529263" cy="1088708"/>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Buzzer and LED provide immediate user confirmation of system activation and status updates</a:t>
            </a:r>
            <a:endParaRPr lang="en-US" sz="1750" dirty="0"/>
          </a:p>
        </p:txBody>
      </p:sp>
      <p:pic>
        <p:nvPicPr>
          <p:cNvPr id="22" name="Picture 21">
            <a:extLst>
              <a:ext uri="{FF2B5EF4-FFF2-40B4-BE49-F238E27FC236}">
                <a16:creationId xmlns:a16="http://schemas.microsoft.com/office/drawing/2014/main" id="{9E52E557-18FA-CC3A-91DE-90BAE3540456}"/>
              </a:ext>
            </a:extLst>
          </p:cNvPr>
          <p:cNvPicPr>
            <a:picLocks noChangeAspect="1"/>
          </p:cNvPicPr>
          <p:nvPr/>
        </p:nvPicPr>
        <p:blipFill>
          <a:blip r:embed="rId9"/>
          <a:stretch>
            <a:fillRect/>
          </a:stretch>
        </p:blipFill>
        <p:spPr>
          <a:xfrm>
            <a:off x="12444267" y="7772336"/>
            <a:ext cx="2086266" cy="4572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3402449" y="311825"/>
            <a:ext cx="1213961" cy="176689"/>
          </a:xfrm>
          <a:prstGeom prst="roundRect">
            <a:avLst>
              <a:gd name="adj" fmla="val 21567"/>
            </a:avLst>
          </a:prstGeom>
          <a:solidFill>
            <a:srgbClr val="E2E3E9"/>
          </a:solidFill>
          <a:ln/>
        </p:spPr>
        <p:txBody>
          <a:bodyPr/>
          <a:lstStyle/>
          <a:p>
            <a:endParaRPr lang="en-IN"/>
          </a:p>
        </p:txBody>
      </p:sp>
      <p:sp>
        <p:nvSpPr>
          <p:cNvPr id="3" name="Text 1"/>
          <p:cNvSpPr/>
          <p:nvPr/>
        </p:nvSpPr>
        <p:spPr>
          <a:xfrm>
            <a:off x="3470434" y="345758"/>
            <a:ext cx="1077992" cy="108823"/>
          </a:xfrm>
          <a:prstGeom prst="rect">
            <a:avLst/>
          </a:prstGeom>
          <a:noFill/>
          <a:ln/>
        </p:spPr>
        <p:txBody>
          <a:bodyPr wrap="none" lIns="0" tIns="0" rIns="0" bIns="0" rtlCol="0" anchor="t"/>
          <a:lstStyle/>
          <a:p>
            <a:pPr marL="0" indent="0" algn="l">
              <a:lnSpc>
                <a:spcPts val="850"/>
              </a:lnSpc>
              <a:buNone/>
            </a:pPr>
            <a:r>
              <a:rPr lang="en-US" sz="700" dirty="0">
                <a:solidFill>
                  <a:srgbClr val="5B5F71"/>
                </a:solidFill>
                <a:latin typeface="Instrument Sans Medium" pitchFamily="34" charset="0"/>
                <a:ea typeface="Instrument Sans Medium" pitchFamily="34" charset="-122"/>
                <a:cs typeface="Instrument Sans Medium" pitchFamily="34" charset="-120"/>
              </a:rPr>
              <a:t>SYSTEM ARCHITECTURE</a:t>
            </a:r>
            <a:endParaRPr lang="en-US" sz="700" dirty="0"/>
          </a:p>
        </p:txBody>
      </p:sp>
      <p:sp>
        <p:nvSpPr>
          <p:cNvPr id="4" name="Text 2"/>
          <p:cNvSpPr/>
          <p:nvPr/>
        </p:nvSpPr>
        <p:spPr>
          <a:xfrm>
            <a:off x="4781014" y="488514"/>
            <a:ext cx="5068372" cy="354330"/>
          </a:xfrm>
          <a:prstGeom prst="rect">
            <a:avLst/>
          </a:prstGeom>
          <a:noFill/>
          <a:ln/>
        </p:spPr>
        <p:txBody>
          <a:bodyPr wrap="none" lIns="0" tIns="0" rIns="0" bIns="0" rtlCol="0" anchor="t"/>
          <a:lstStyle/>
          <a:p>
            <a:pPr marL="0" indent="0" algn="ctr">
              <a:lnSpc>
                <a:spcPts val="2750"/>
              </a:lnSpc>
              <a:buNone/>
            </a:pPr>
            <a:r>
              <a:rPr lang="en-US" sz="2200" dirty="0">
                <a:solidFill>
                  <a:srgbClr val="5B5F71"/>
                </a:solidFill>
                <a:highlight>
                  <a:srgbClr val="AFCBF8"/>
                </a:highlight>
                <a:latin typeface="Instrument Sans Semi Bold" pitchFamily="34" charset="0"/>
                <a:ea typeface="Instrument Sans Semi Bold" pitchFamily="34" charset="-122"/>
                <a:cs typeface="Instrument Sans Semi Bold" pitchFamily="34" charset="-120"/>
              </a:rPr>
              <a:t>Circuit Design &amp; Communication Flow</a:t>
            </a:r>
            <a:endParaRPr lang="en-US" sz="2200" dirty="0"/>
          </a:p>
        </p:txBody>
      </p:sp>
      <p:sp>
        <p:nvSpPr>
          <p:cNvPr id="5" name="Shape 3"/>
          <p:cNvSpPr/>
          <p:nvPr/>
        </p:nvSpPr>
        <p:spPr>
          <a:xfrm>
            <a:off x="562428" y="4114800"/>
            <a:ext cx="2722364" cy="2728198"/>
          </a:xfrm>
          <a:prstGeom prst="roundRect">
            <a:avLst>
              <a:gd name="adj" fmla="val 3000"/>
            </a:avLst>
          </a:prstGeom>
          <a:solidFill>
            <a:srgbClr val="E0F2F7">
              <a:alpha val="95000"/>
            </a:srgbClr>
          </a:solidFill>
          <a:ln/>
        </p:spPr>
        <p:txBody>
          <a:bodyPr/>
          <a:lstStyle/>
          <a:p>
            <a:endParaRPr lang="en-IN"/>
          </a:p>
        </p:txBody>
      </p:sp>
      <p:sp>
        <p:nvSpPr>
          <p:cNvPr id="6" name="Text 4"/>
          <p:cNvSpPr/>
          <p:nvPr/>
        </p:nvSpPr>
        <p:spPr>
          <a:xfrm>
            <a:off x="938451" y="4410107"/>
            <a:ext cx="1838682" cy="212646"/>
          </a:xfrm>
          <a:prstGeom prst="rect">
            <a:avLst/>
          </a:prstGeom>
          <a:noFill/>
          <a:ln/>
        </p:spPr>
        <p:txBody>
          <a:bodyPr wrap="none" lIns="0" tIns="0" rIns="0" bIns="0" rtlCol="0" anchor="t"/>
          <a:lstStyle/>
          <a:p>
            <a:pPr marL="0" indent="0" algn="l">
              <a:lnSpc>
                <a:spcPts val="1650"/>
              </a:lnSpc>
              <a:buNone/>
            </a:pPr>
            <a:r>
              <a:rPr lang="en-US" sz="1300" dirty="0">
                <a:solidFill>
                  <a:srgbClr val="505468"/>
                </a:solidFill>
                <a:latin typeface="Instrument Sans Semi Bold" pitchFamily="34" charset="0"/>
                <a:ea typeface="Instrument Sans Semi Bold" pitchFamily="34" charset="-122"/>
                <a:cs typeface="Instrument Sans Semi Bold" pitchFamily="34" charset="-120"/>
              </a:rPr>
              <a:t>Hardware Connections</a:t>
            </a:r>
            <a:endParaRPr lang="en-US" sz="1300" dirty="0"/>
          </a:p>
        </p:txBody>
      </p:sp>
      <p:sp>
        <p:nvSpPr>
          <p:cNvPr id="7" name="Text 5"/>
          <p:cNvSpPr/>
          <p:nvPr/>
        </p:nvSpPr>
        <p:spPr>
          <a:xfrm>
            <a:off x="789123" y="4713927"/>
            <a:ext cx="2495669" cy="408265"/>
          </a:xfrm>
          <a:prstGeom prst="rect">
            <a:avLst/>
          </a:prstGeom>
          <a:noFill/>
          <a:ln/>
        </p:spPr>
        <p:txBody>
          <a:bodyPr wrap="square" lIns="0" tIns="0" rIns="0" bIns="0" rtlCol="0" anchor="t"/>
          <a:lstStyle/>
          <a:p>
            <a:pPr marL="0" indent="0" algn="l">
              <a:lnSpc>
                <a:spcPts val="1050"/>
              </a:lnSpc>
              <a:buNone/>
            </a:pPr>
            <a:r>
              <a:rPr lang="en-US" sz="850" dirty="0">
                <a:solidFill>
                  <a:srgbClr val="000000"/>
                </a:solidFill>
                <a:latin typeface="Instrument Sans Medium" pitchFamily="34" charset="0"/>
                <a:ea typeface="Instrument Sans Medium" pitchFamily="34" charset="-122"/>
                <a:cs typeface="Instrument Sans Medium" pitchFamily="34" charset="-120"/>
              </a:rPr>
              <a:t>The ESP32 serves as the central hub, coordinating all peripheral modules through various communication protocols.</a:t>
            </a:r>
            <a:endParaRPr lang="en-US" sz="850" dirty="0"/>
          </a:p>
        </p:txBody>
      </p:sp>
      <p:sp>
        <p:nvSpPr>
          <p:cNvPr id="8" name="Text 6"/>
          <p:cNvSpPr/>
          <p:nvPr/>
        </p:nvSpPr>
        <p:spPr>
          <a:xfrm>
            <a:off x="3079790" y="994647"/>
            <a:ext cx="1701165" cy="212646"/>
          </a:xfrm>
          <a:prstGeom prst="rect">
            <a:avLst/>
          </a:prstGeom>
          <a:noFill/>
          <a:ln/>
        </p:spPr>
        <p:txBody>
          <a:bodyPr wrap="none" lIns="0" tIns="0" rIns="0" bIns="0" rtlCol="0" anchor="t"/>
          <a:lstStyle/>
          <a:p>
            <a:pPr marL="0" indent="0" algn="l">
              <a:lnSpc>
                <a:spcPts val="1650"/>
              </a:lnSpc>
              <a:buNone/>
            </a:pPr>
            <a:r>
              <a:rPr lang="en-US" sz="1300" dirty="0">
                <a:solidFill>
                  <a:srgbClr val="505468"/>
                </a:solidFill>
                <a:latin typeface="Instrument Sans Semi Bold" pitchFamily="34" charset="0"/>
                <a:ea typeface="Instrument Sans Semi Bold" pitchFamily="34" charset="-122"/>
                <a:cs typeface="Instrument Sans Semi Bold" pitchFamily="34" charset="-120"/>
              </a:rPr>
              <a:t>Data Flow Sequence</a:t>
            </a:r>
            <a:endParaRPr lang="en-US" sz="1300" dirty="0"/>
          </a:p>
        </p:txBody>
      </p:sp>
      <p:pic>
        <p:nvPicPr>
          <p:cNvPr id="21" name="Image 6" descr="preencoded.png"/>
          <p:cNvPicPr>
            <a:picLocks noChangeAspect="1"/>
          </p:cNvPicPr>
          <p:nvPr/>
        </p:nvPicPr>
        <p:blipFill>
          <a:blip r:embed="rId3"/>
          <a:stretch>
            <a:fillRect/>
          </a:stretch>
        </p:blipFill>
        <p:spPr>
          <a:xfrm>
            <a:off x="3934790" y="3643789"/>
            <a:ext cx="7825502" cy="4551878"/>
          </a:xfrm>
          <a:prstGeom prst="rect">
            <a:avLst/>
          </a:prstGeom>
        </p:spPr>
      </p:pic>
      <p:pic>
        <p:nvPicPr>
          <p:cNvPr id="102" name="Picture 101">
            <a:extLst>
              <a:ext uri="{FF2B5EF4-FFF2-40B4-BE49-F238E27FC236}">
                <a16:creationId xmlns:a16="http://schemas.microsoft.com/office/drawing/2014/main" id="{9183A952-BCE2-FD73-D1C5-EF49F603D4AC}"/>
              </a:ext>
            </a:extLst>
          </p:cNvPr>
          <p:cNvPicPr>
            <a:picLocks noChangeAspect="1"/>
          </p:cNvPicPr>
          <p:nvPr/>
        </p:nvPicPr>
        <p:blipFill>
          <a:blip r:embed="rId4"/>
          <a:stretch>
            <a:fillRect/>
          </a:stretch>
        </p:blipFill>
        <p:spPr>
          <a:xfrm>
            <a:off x="7261949" y="1589019"/>
            <a:ext cx="5888353" cy="1707508"/>
          </a:xfrm>
          <a:prstGeom prst="rect">
            <a:avLst/>
          </a:prstGeom>
        </p:spPr>
      </p:pic>
      <p:pic>
        <p:nvPicPr>
          <p:cNvPr id="103" name="Picture 102">
            <a:extLst>
              <a:ext uri="{FF2B5EF4-FFF2-40B4-BE49-F238E27FC236}">
                <a16:creationId xmlns:a16="http://schemas.microsoft.com/office/drawing/2014/main" id="{36AF3ADB-95EC-5D7F-6624-3C8A2C9C5112}"/>
              </a:ext>
            </a:extLst>
          </p:cNvPr>
          <p:cNvPicPr>
            <a:picLocks noChangeAspect="1"/>
          </p:cNvPicPr>
          <p:nvPr/>
        </p:nvPicPr>
        <p:blipFill>
          <a:blip r:embed="rId5"/>
          <a:stretch>
            <a:fillRect/>
          </a:stretch>
        </p:blipFill>
        <p:spPr>
          <a:xfrm>
            <a:off x="1479369" y="1241757"/>
            <a:ext cx="5060119" cy="2402032"/>
          </a:xfrm>
          <a:prstGeom prst="rect">
            <a:avLst/>
          </a:prstGeom>
        </p:spPr>
      </p:pic>
      <p:pic>
        <p:nvPicPr>
          <p:cNvPr id="105" name="Picture 104">
            <a:extLst>
              <a:ext uri="{FF2B5EF4-FFF2-40B4-BE49-F238E27FC236}">
                <a16:creationId xmlns:a16="http://schemas.microsoft.com/office/drawing/2014/main" id="{7AFEA75C-8EDD-95DD-4FBD-26648C0E03CC}"/>
              </a:ext>
            </a:extLst>
          </p:cNvPr>
          <p:cNvPicPr>
            <a:picLocks noChangeAspect="1"/>
          </p:cNvPicPr>
          <p:nvPr/>
        </p:nvPicPr>
        <p:blipFill>
          <a:blip r:embed="rId6"/>
          <a:stretch>
            <a:fillRect/>
          </a:stretch>
        </p:blipFill>
        <p:spPr>
          <a:xfrm>
            <a:off x="12544134" y="7640020"/>
            <a:ext cx="2086266" cy="4572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TotalTime>
  <Words>402</Words>
  <Application>Microsoft Office PowerPoint</Application>
  <PresentationFormat>Custom</PresentationFormat>
  <Paragraphs>57</Paragraphs>
  <Slides>7</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Instrument Sans Semi Bold</vt:lpstr>
      <vt:lpstr>Arial</vt:lpstr>
      <vt:lpstr>Instrument Sans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Chitranshi Singh</dc:creator>
  <cp:lastModifiedBy>Krishna Gupta</cp:lastModifiedBy>
  <cp:revision>3</cp:revision>
  <dcterms:created xsi:type="dcterms:W3CDTF">2026-02-10T19:00:14Z</dcterms:created>
  <dcterms:modified xsi:type="dcterms:W3CDTF">2026-05-05T16:13:21Z</dcterms:modified>
</cp:coreProperties>
</file>